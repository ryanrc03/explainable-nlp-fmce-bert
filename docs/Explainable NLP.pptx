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10287000" cx="18288000"/>
  <p:notesSz cx="6858000" cy="9144000"/>
  <p:embeddedFontLst>
    <p:embeddedFont>
      <p:font typeface="Cormorant Garamond"/>
      <p:regular r:id="rId19"/>
      <p:bold r:id="rId20"/>
      <p:italic r:id="rId21"/>
      <p:boldItalic r:id="rId22"/>
    </p:embeddedFont>
    <p:embeddedFont>
      <p:font typeface="Lato"/>
      <p:bold r:id="rId23"/>
      <p:boldItalic r:id="rId24"/>
    </p:embeddedFont>
    <p:embeddedFont>
      <p:font typeface="Lato Black"/>
      <p:bold r:id="rId25"/>
      <p:boldItalic r:id="rId26"/>
    </p:embeddedFont>
    <p:embeddedFont>
      <p:font typeface="Cormorant Garamond Ligh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rmorantGaramond-bold.fntdata"/><Relationship Id="rId22" Type="http://schemas.openxmlformats.org/officeDocument/2006/relationships/font" Target="fonts/CormorantGaramond-boldItalic.fntdata"/><Relationship Id="rId21" Type="http://schemas.openxmlformats.org/officeDocument/2006/relationships/font" Target="fonts/CormorantGaramond-italic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Black-boldItalic.fntdata"/><Relationship Id="rId25" Type="http://schemas.openxmlformats.org/officeDocument/2006/relationships/font" Target="fonts/LatoBlack-bold.fntdata"/><Relationship Id="rId28" Type="http://schemas.openxmlformats.org/officeDocument/2006/relationships/font" Target="fonts/CormorantGaramondLight-bold.fntdata"/><Relationship Id="rId27" Type="http://schemas.openxmlformats.org/officeDocument/2006/relationships/font" Target="fonts/CormorantGaramondLigh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ormorantGaramondLigh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CormorantGaramondLigh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CormorantGaramond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a01834763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9a01834763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a01834763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9a01834763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a01834763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9a01834763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a01834763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9a01834763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a01834763_0_1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9a01834763_0_1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a01834763_0_1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9a01834763_0_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a01834763_0_1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9a01834763_0_1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a01834763_2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9a01834763_2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a01834763_2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9a01834763_2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9a01834763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9a01834763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5B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441174" y="-4302175"/>
            <a:ext cx="20882061" cy="15661546"/>
          </a:xfrm>
          <a:custGeom>
            <a:rect b="b" l="l" r="r" t="t"/>
            <a:pathLst>
              <a:path extrusionOk="0" h="15661546" w="20882061">
                <a:moveTo>
                  <a:pt x="0" y="0"/>
                </a:moveTo>
                <a:lnTo>
                  <a:pt x="20882062" y="0"/>
                </a:lnTo>
                <a:lnTo>
                  <a:pt x="20882062" y="15661546"/>
                </a:lnTo>
                <a:lnTo>
                  <a:pt x="0" y="156615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19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15541676" y="8856607"/>
            <a:ext cx="2037088" cy="831842"/>
          </a:xfrm>
          <a:custGeom>
            <a:rect b="b" l="l" r="r" t="t"/>
            <a:pathLst>
              <a:path extrusionOk="0" h="831842" w="2037088">
                <a:moveTo>
                  <a:pt x="0" y="0"/>
                </a:moveTo>
                <a:lnTo>
                  <a:pt x="2037088" y="0"/>
                </a:lnTo>
                <a:lnTo>
                  <a:pt x="2037088" y="831842"/>
                </a:lnTo>
                <a:lnTo>
                  <a:pt x="0" y="8318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193799" y="2112750"/>
            <a:ext cx="14696100" cy="26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8800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8922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Convergence </a:t>
            </a:r>
            <a:r>
              <a:rPr b="1" lang="en-US" sz="8922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Explainability</a:t>
            </a:r>
            <a:r>
              <a:rPr b="1" lang="en-US" sz="8922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 in Text Classification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491759" y="4608168"/>
            <a:ext cx="4821900" cy="22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6222">
                <a:solidFill>
                  <a:srgbClr val="FFFFFF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Comp 640 003</a:t>
            </a:r>
            <a:endParaRPr i="1" sz="6222">
              <a:solidFill>
                <a:srgbClr val="FFFFFF"/>
              </a:solidFill>
              <a:latin typeface="Cormorant Garamond Light"/>
              <a:ea typeface="Cormorant Garamond Light"/>
              <a:cs typeface="Cormorant Garamond Light"/>
              <a:sym typeface="Cormorant Garamond Light"/>
            </a:endParaRPr>
          </a:p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6222">
                <a:solidFill>
                  <a:srgbClr val="FFFFFF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Explainable NLP</a:t>
            </a:r>
            <a:endParaRPr i="1" sz="6222">
              <a:solidFill>
                <a:srgbClr val="FFFFFF"/>
              </a:solidFill>
              <a:latin typeface="Cormorant Garamond Light"/>
              <a:ea typeface="Cormorant Garamond Light"/>
              <a:cs typeface="Cormorant Garamond Light"/>
              <a:sym typeface="Cormorant Garamond Light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966772" y="8892510"/>
            <a:ext cx="68055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22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Ryan Li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14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98" name="Google Shape;98;p14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205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14"/>
          <p:cNvSpPr/>
          <p:nvPr/>
        </p:nvSpPr>
        <p:spPr>
          <a:xfrm>
            <a:off x="399874" y="9473983"/>
            <a:ext cx="1462805" cy="597334"/>
          </a:xfrm>
          <a:custGeom>
            <a:rect b="b" l="l" r="r" t="t"/>
            <a:pathLst>
              <a:path extrusionOk="0" h="597334" w="1462805">
                <a:moveTo>
                  <a:pt x="0" y="0"/>
                </a:moveTo>
                <a:lnTo>
                  <a:pt x="1462806" y="0"/>
                </a:lnTo>
                <a:lnTo>
                  <a:pt x="1462806" y="597334"/>
                </a:lnTo>
                <a:lnTo>
                  <a:pt x="0" y="5973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13475819" y="9511665"/>
            <a:ext cx="447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04700" y="1563125"/>
            <a:ext cx="17783400" cy="54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260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205B"/>
              </a:buClr>
              <a:buSzPts val="4000"/>
              <a:buChar char="●"/>
            </a:pPr>
            <a:r>
              <a:rPr b="1" lang="en-US" sz="4000">
                <a:solidFill>
                  <a:srgbClr val="00205B"/>
                </a:solidFill>
              </a:rPr>
              <a:t>Deep Neural Networks (DNNs) are widely applied many fields such as CV, NLP…</a:t>
            </a:r>
            <a:endParaRPr b="1" sz="4000">
              <a:solidFill>
                <a:srgbClr val="00205B"/>
              </a:solidFill>
            </a:endParaRPr>
          </a:p>
          <a:p>
            <a:pPr indent="0" lvl="0" marL="9144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00205B"/>
              </a:solidFill>
            </a:endParaRPr>
          </a:p>
          <a:p>
            <a:pPr indent="-48260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205B"/>
              </a:buClr>
              <a:buSzPts val="4000"/>
              <a:buChar char="●"/>
            </a:pPr>
            <a:r>
              <a:rPr b="1" lang="en-US" sz="4000">
                <a:solidFill>
                  <a:srgbClr val="00205B"/>
                </a:solidFill>
              </a:rPr>
              <a:t>The optimization and evaluation of DNN models convergence are in an end-to-end fashion, treating the entire model as a singular black box.</a:t>
            </a:r>
            <a:endParaRPr b="1" sz="4000">
              <a:solidFill>
                <a:srgbClr val="00205B"/>
              </a:solidFill>
            </a:endParaRPr>
          </a:p>
          <a:p>
            <a:pPr indent="0" lvl="0" marL="9144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00205B"/>
              </a:solidFill>
            </a:endParaRPr>
          </a:p>
          <a:p>
            <a:pPr indent="-48260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205B"/>
              </a:buClr>
              <a:buSzPts val="4000"/>
              <a:buChar char="●"/>
            </a:pPr>
            <a:r>
              <a:rPr b="1" lang="en-US" sz="4000">
                <a:solidFill>
                  <a:srgbClr val="00205B"/>
                </a:solidFill>
              </a:rPr>
              <a:t>Overfitting</a:t>
            </a:r>
            <a:r>
              <a:rPr b="1" lang="en-US" sz="4000">
                <a:solidFill>
                  <a:srgbClr val="00205B"/>
                </a:solidFill>
              </a:rPr>
              <a:t> vs Underfitting</a:t>
            </a:r>
            <a:endParaRPr b="1" sz="4000">
              <a:solidFill>
                <a:srgbClr val="00205B"/>
              </a:solidFill>
            </a:endParaRPr>
          </a:p>
          <a:p>
            <a:pPr indent="0" lvl="0" marL="9144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00205B"/>
              </a:solidFill>
            </a:endParaRPr>
          </a:p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00205B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3" y="105600"/>
            <a:ext cx="6458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020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1:Introduction</a:t>
            </a:r>
            <a:endParaRPr sz="6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15"/>
          <p:cNvGrpSpPr/>
          <p:nvPr/>
        </p:nvGrpSpPr>
        <p:grpSpPr>
          <a:xfrm>
            <a:off x="0" y="9113638"/>
            <a:ext cx="18288118" cy="1173367"/>
            <a:chOff x="0" y="-38100"/>
            <a:chExt cx="4816592" cy="309033"/>
          </a:xfrm>
        </p:grpSpPr>
        <p:sp>
          <p:nvSpPr>
            <p:cNvPr id="109" name="Google Shape;109;p15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205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5"/>
            <p:cNvSpPr txBox="1"/>
            <p:nvPr/>
          </p:nvSpPr>
          <p:spPr>
            <a:xfrm>
              <a:off x="0" y="-38100"/>
              <a:ext cx="4816500" cy="30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15"/>
          <p:cNvSpPr/>
          <p:nvPr/>
        </p:nvSpPr>
        <p:spPr>
          <a:xfrm>
            <a:off x="399874" y="9473983"/>
            <a:ext cx="1462805" cy="597334"/>
          </a:xfrm>
          <a:custGeom>
            <a:rect b="b" l="l" r="r" t="t"/>
            <a:pathLst>
              <a:path extrusionOk="0" h="597334" w="1462805">
                <a:moveTo>
                  <a:pt x="0" y="0"/>
                </a:moveTo>
                <a:lnTo>
                  <a:pt x="1462806" y="0"/>
                </a:lnTo>
                <a:lnTo>
                  <a:pt x="1462806" y="597334"/>
                </a:lnTo>
                <a:lnTo>
                  <a:pt x="0" y="5973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13475819" y="9511665"/>
            <a:ext cx="447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04702" y="1563125"/>
            <a:ext cx="15544200" cy="10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205B"/>
                </a:solidFill>
              </a:rPr>
              <a:t>How to evaluate the convergence degree of DNNs?</a:t>
            </a:r>
            <a:endParaRPr b="1" sz="4000">
              <a:solidFill>
                <a:srgbClr val="00205B"/>
              </a:solidFill>
            </a:endParaRPr>
          </a:p>
          <a:p>
            <a:pPr indent="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00205B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3" y="105600"/>
            <a:ext cx="6458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020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1:Introduction</a:t>
            </a:r>
            <a:endParaRPr sz="6000"/>
          </a:p>
        </p:txBody>
      </p:sp>
      <p:pic>
        <p:nvPicPr>
          <p:cNvPr id="115" name="Google Shape;11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8350" y="2646714"/>
            <a:ext cx="9176900" cy="519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878927" y="8030050"/>
            <a:ext cx="1554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205B"/>
                </a:solidFill>
              </a:rPr>
              <a:t>Examining</a:t>
            </a:r>
            <a:r>
              <a:rPr b="1" lang="en-US" sz="4000">
                <a:solidFill>
                  <a:srgbClr val="00205B"/>
                </a:solidFill>
              </a:rPr>
              <a:t> Loss and </a:t>
            </a:r>
            <a:r>
              <a:rPr b="1" lang="en-US" sz="4000">
                <a:solidFill>
                  <a:srgbClr val="00205B"/>
                </a:solidFill>
              </a:rPr>
              <a:t>Accuracy</a:t>
            </a:r>
            <a:r>
              <a:rPr b="1" lang="en-US" sz="4000">
                <a:solidFill>
                  <a:srgbClr val="00205B"/>
                </a:solidFill>
              </a:rPr>
              <a:t> in Train and Validation set</a:t>
            </a:r>
            <a:endParaRPr b="1" sz="3000">
              <a:solidFill>
                <a:srgbClr val="00205B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6"/>
          <p:cNvGrpSpPr/>
          <p:nvPr/>
        </p:nvGrpSpPr>
        <p:grpSpPr>
          <a:xfrm>
            <a:off x="0" y="9113638"/>
            <a:ext cx="18288118" cy="1173367"/>
            <a:chOff x="0" y="-38100"/>
            <a:chExt cx="4816592" cy="309033"/>
          </a:xfrm>
        </p:grpSpPr>
        <p:sp>
          <p:nvSpPr>
            <p:cNvPr id="122" name="Google Shape;122;p16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205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6"/>
            <p:cNvSpPr txBox="1"/>
            <p:nvPr/>
          </p:nvSpPr>
          <p:spPr>
            <a:xfrm>
              <a:off x="0" y="-38100"/>
              <a:ext cx="4816500" cy="30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6"/>
          <p:cNvSpPr/>
          <p:nvPr/>
        </p:nvSpPr>
        <p:spPr>
          <a:xfrm>
            <a:off x="399874" y="9473983"/>
            <a:ext cx="1462805" cy="597334"/>
          </a:xfrm>
          <a:custGeom>
            <a:rect b="b" l="l" r="r" t="t"/>
            <a:pathLst>
              <a:path extrusionOk="0" h="597334" w="1462805">
                <a:moveTo>
                  <a:pt x="0" y="0"/>
                </a:moveTo>
                <a:lnTo>
                  <a:pt x="1462806" y="0"/>
                </a:lnTo>
                <a:lnTo>
                  <a:pt x="1462806" y="597334"/>
                </a:lnTo>
                <a:lnTo>
                  <a:pt x="0" y="5973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13475819" y="9511665"/>
            <a:ext cx="447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10020799" y="2251175"/>
            <a:ext cx="69414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205B"/>
                </a:solidFill>
              </a:rPr>
              <a:t>FCME:</a:t>
            </a:r>
            <a:endParaRPr b="1" sz="4000">
              <a:solidFill>
                <a:srgbClr val="00205B"/>
              </a:solidFill>
            </a:endParaRPr>
          </a:p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205B"/>
                </a:solidFill>
              </a:rPr>
              <a:t>This work propose a Evaluation method in Image classification task in Computer Vision</a:t>
            </a:r>
            <a:endParaRPr b="1" sz="4000">
              <a:solidFill>
                <a:srgbClr val="00205B"/>
              </a:solidFill>
            </a:endParaRPr>
          </a:p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00205B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3" y="105600"/>
            <a:ext cx="6458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020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2</a:t>
            </a:r>
            <a:r>
              <a:rPr b="1" lang="en-US" sz="6000">
                <a:solidFill>
                  <a:srgbClr val="0020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:Related Work</a:t>
            </a:r>
            <a:endParaRPr sz="6000"/>
          </a:p>
        </p:txBody>
      </p:sp>
      <p:sp>
        <p:nvSpPr>
          <p:cNvPr id="128" name="Google Shape;128;p16"/>
          <p:cNvSpPr txBox="1"/>
          <p:nvPr/>
        </p:nvSpPr>
        <p:spPr>
          <a:xfrm>
            <a:off x="800350" y="8310250"/>
            <a:ext cx="149529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205B"/>
                </a:solidFill>
              </a:rPr>
              <a:t>Zhang, L., Chen, C., He, L., &amp; Li, K. (2024, September). Feature map convergence evaluation for functional module. In 2024 IEEE 27th International Conference on Intelligent Transportation Systems (ITSC) (pp. 864-869). IEEE.</a:t>
            </a:r>
            <a:endParaRPr b="1" sz="2000">
              <a:solidFill>
                <a:srgbClr val="00205B"/>
              </a:solidFill>
            </a:endParaRPr>
          </a:p>
        </p:txBody>
      </p:sp>
      <p:pic>
        <p:nvPicPr>
          <p:cNvPr id="129" name="Google Shape;129;p16" title="Screenshot 2025-11-19 at 13.53.4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075" y="1754958"/>
            <a:ext cx="8942024" cy="5829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oogle Shape;134;p17"/>
          <p:cNvGrpSpPr/>
          <p:nvPr/>
        </p:nvGrpSpPr>
        <p:grpSpPr>
          <a:xfrm>
            <a:off x="0" y="9113638"/>
            <a:ext cx="18288118" cy="1173367"/>
            <a:chOff x="0" y="-38100"/>
            <a:chExt cx="4816592" cy="309033"/>
          </a:xfrm>
        </p:grpSpPr>
        <p:sp>
          <p:nvSpPr>
            <p:cNvPr id="135" name="Google Shape;135;p17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205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7"/>
            <p:cNvSpPr txBox="1"/>
            <p:nvPr/>
          </p:nvSpPr>
          <p:spPr>
            <a:xfrm>
              <a:off x="0" y="-38100"/>
              <a:ext cx="4816500" cy="30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" name="Google Shape;137;p17"/>
          <p:cNvSpPr/>
          <p:nvPr/>
        </p:nvSpPr>
        <p:spPr>
          <a:xfrm>
            <a:off x="399874" y="9473983"/>
            <a:ext cx="1462805" cy="597334"/>
          </a:xfrm>
          <a:custGeom>
            <a:rect b="b" l="l" r="r" t="t"/>
            <a:pathLst>
              <a:path extrusionOk="0" h="597334" w="1462805">
                <a:moveTo>
                  <a:pt x="0" y="0"/>
                </a:moveTo>
                <a:lnTo>
                  <a:pt x="1462806" y="0"/>
                </a:lnTo>
                <a:lnTo>
                  <a:pt x="1462806" y="597334"/>
                </a:lnTo>
                <a:lnTo>
                  <a:pt x="0" y="5973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13475819" y="9511665"/>
            <a:ext cx="447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3" y="105600"/>
            <a:ext cx="6458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020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2</a:t>
            </a:r>
            <a:r>
              <a:rPr b="1" lang="en-US" sz="6000">
                <a:solidFill>
                  <a:srgbClr val="0020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:</a:t>
            </a:r>
            <a:r>
              <a:rPr b="1" lang="en-US" sz="6000">
                <a:solidFill>
                  <a:srgbClr val="0020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Related Work</a:t>
            </a:r>
            <a:endParaRPr sz="6000"/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0300" y="1029000"/>
            <a:ext cx="14487398" cy="510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/>
          <p:nvPr/>
        </p:nvSpPr>
        <p:spPr>
          <a:xfrm>
            <a:off x="14001450" y="1029000"/>
            <a:ext cx="2575800" cy="5010600"/>
          </a:xfrm>
          <a:prstGeom prst="rect">
            <a:avLst/>
          </a:prstGeom>
          <a:noFill/>
          <a:ln cap="flat" cmpd="sng" w="2286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42" name="Google Shape;142;p17"/>
          <p:cNvSpPr/>
          <p:nvPr/>
        </p:nvSpPr>
        <p:spPr>
          <a:xfrm>
            <a:off x="11429700" y="999900"/>
            <a:ext cx="2334000" cy="4744200"/>
          </a:xfrm>
          <a:prstGeom prst="rect">
            <a:avLst/>
          </a:prstGeom>
          <a:noFill/>
          <a:ln cap="flat" cmpd="sng" w="2286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9FDDF9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43" name="Google Shape;143;p17" title="Screenshot 2025-11-19 at 14.21.1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9288" y="6195575"/>
            <a:ext cx="5853556" cy="2675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title="Screenshot 2025-11-19 at 14.17.40.png"/>
          <p:cNvPicPr preferRelativeResize="0"/>
          <p:nvPr/>
        </p:nvPicPr>
        <p:blipFill rotWithShape="1">
          <a:blip r:embed="rId6">
            <a:alphaModFix/>
          </a:blip>
          <a:srcRect b="28800" l="0" r="0" t="0"/>
          <a:stretch/>
        </p:blipFill>
        <p:spPr>
          <a:xfrm>
            <a:off x="951260" y="5777425"/>
            <a:ext cx="5331589" cy="333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6044725" y="166175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205B"/>
                </a:solidFill>
                <a:highlight>
                  <a:srgbClr val="9FDDF9"/>
                </a:highlight>
              </a:rPr>
              <a:t>Freeze</a:t>
            </a:r>
            <a:endParaRPr b="1" sz="4000">
              <a:solidFill>
                <a:srgbClr val="00205B"/>
              </a:solidFill>
              <a:highlight>
                <a:srgbClr val="9FDDF9"/>
              </a:highlight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10104275" y="166175"/>
            <a:ext cx="45861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205B"/>
                </a:solidFill>
                <a:highlight>
                  <a:srgbClr val="FF9900"/>
                </a:highlight>
              </a:rPr>
              <a:t>Train a New NN</a:t>
            </a:r>
            <a:endParaRPr b="1" sz="4000">
              <a:solidFill>
                <a:srgbClr val="00205B"/>
              </a:solidFill>
              <a:highlight>
                <a:srgbClr val="FF9900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00205B"/>
              </a:solidFill>
              <a:highlight>
                <a:srgbClr val="FF9900"/>
              </a:highlight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13575725" y="6248575"/>
            <a:ext cx="42792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205B"/>
                </a:solidFill>
                <a:highlight>
                  <a:srgbClr val="FF0000"/>
                </a:highlight>
              </a:rPr>
              <a:t>Predict Convergence Stage</a:t>
            </a:r>
            <a:endParaRPr b="1" sz="4000">
              <a:solidFill>
                <a:srgbClr val="00205B"/>
              </a:solidFill>
              <a:highlight>
                <a:srgbClr val="FF0000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205B"/>
                </a:solidFill>
                <a:highlight>
                  <a:srgbClr val="FF0000"/>
                </a:highlight>
              </a:rPr>
              <a:t>0.1.2.3.4.5….</a:t>
            </a:r>
            <a:endParaRPr b="1" sz="4000">
              <a:solidFill>
                <a:srgbClr val="00205B"/>
              </a:solidFill>
              <a:highlight>
                <a:srgbClr val="FF0000"/>
              </a:highlight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4234950" y="1029000"/>
            <a:ext cx="6957000" cy="4686000"/>
          </a:xfrm>
          <a:prstGeom prst="rect">
            <a:avLst/>
          </a:prstGeom>
          <a:noFill/>
          <a:ln cap="flat" cmpd="sng" w="228600">
            <a:solidFill>
              <a:srgbClr val="9FDD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8"/>
          <p:cNvGrpSpPr/>
          <p:nvPr/>
        </p:nvGrpSpPr>
        <p:grpSpPr>
          <a:xfrm>
            <a:off x="0" y="9113638"/>
            <a:ext cx="18288118" cy="1173367"/>
            <a:chOff x="0" y="-38100"/>
            <a:chExt cx="4816592" cy="309033"/>
          </a:xfrm>
        </p:grpSpPr>
        <p:sp>
          <p:nvSpPr>
            <p:cNvPr id="154" name="Google Shape;154;p18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205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8"/>
            <p:cNvSpPr txBox="1"/>
            <p:nvPr/>
          </p:nvSpPr>
          <p:spPr>
            <a:xfrm>
              <a:off x="0" y="-38100"/>
              <a:ext cx="4816500" cy="30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18"/>
          <p:cNvSpPr/>
          <p:nvPr/>
        </p:nvSpPr>
        <p:spPr>
          <a:xfrm>
            <a:off x="399874" y="9473983"/>
            <a:ext cx="1462805" cy="597334"/>
          </a:xfrm>
          <a:custGeom>
            <a:rect b="b" l="l" r="r" t="t"/>
            <a:pathLst>
              <a:path extrusionOk="0" h="597334" w="1462805">
                <a:moveTo>
                  <a:pt x="0" y="0"/>
                </a:moveTo>
                <a:lnTo>
                  <a:pt x="1462806" y="0"/>
                </a:lnTo>
                <a:lnTo>
                  <a:pt x="1462806" y="597334"/>
                </a:lnTo>
                <a:lnTo>
                  <a:pt x="0" y="5973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13475819" y="9511665"/>
            <a:ext cx="447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399875" y="1225250"/>
            <a:ext cx="12551100" cy="55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205B"/>
                </a:solidFill>
              </a:rPr>
              <a:t>Transform to Text Classification Task</a:t>
            </a:r>
            <a:endParaRPr b="1" sz="4000">
              <a:solidFill>
                <a:srgbClr val="00205B"/>
              </a:solidFill>
            </a:endParaRPr>
          </a:p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00205B"/>
              </a:solidFill>
            </a:endParaRPr>
          </a:p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00205B"/>
                </a:solidFill>
              </a:rPr>
              <a:t>Text Classification Pipeline Can also be Modularized</a:t>
            </a:r>
            <a:endParaRPr b="1" sz="3500">
              <a:solidFill>
                <a:srgbClr val="00205B"/>
              </a:solidFill>
            </a:endParaRPr>
          </a:p>
          <a:p>
            <a:pPr indent="-45085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205B"/>
              </a:buClr>
              <a:buSzPts val="3500"/>
              <a:buAutoNum type="arabicPeriod"/>
            </a:pPr>
            <a:r>
              <a:rPr b="1" lang="en-US" sz="3500">
                <a:solidFill>
                  <a:srgbClr val="00205B"/>
                </a:solidFill>
              </a:rPr>
              <a:t>Tokenize</a:t>
            </a:r>
            <a:endParaRPr b="1" sz="3500">
              <a:solidFill>
                <a:srgbClr val="00205B"/>
              </a:solidFill>
            </a:endParaRPr>
          </a:p>
          <a:p>
            <a:pPr indent="-45085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205B"/>
              </a:buClr>
              <a:buSzPts val="3500"/>
              <a:buAutoNum type="arabicPeriod"/>
            </a:pPr>
            <a:r>
              <a:rPr b="1" lang="en-US" sz="3500">
                <a:solidFill>
                  <a:srgbClr val="00205B"/>
                </a:solidFill>
              </a:rPr>
              <a:t>BERT Embedding(Feature Extraction)</a:t>
            </a:r>
            <a:endParaRPr b="1" sz="3500">
              <a:solidFill>
                <a:srgbClr val="00205B"/>
              </a:solidFill>
            </a:endParaRPr>
          </a:p>
          <a:p>
            <a:pPr indent="-45085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205B"/>
              </a:buClr>
              <a:buSzPts val="3500"/>
              <a:buAutoNum type="arabicPeriod"/>
            </a:pPr>
            <a:r>
              <a:rPr b="1" lang="en-US" sz="3500">
                <a:solidFill>
                  <a:srgbClr val="00205B"/>
                </a:solidFill>
              </a:rPr>
              <a:t>Pooling &amp; Classification Head</a:t>
            </a:r>
            <a:endParaRPr b="1" sz="3500">
              <a:solidFill>
                <a:srgbClr val="00205B"/>
              </a:solidFill>
            </a:endParaRPr>
          </a:p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rgbClr val="00205B"/>
              </a:solidFill>
            </a:endParaRPr>
          </a:p>
          <a:p>
            <a:pPr indent="-45085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205B"/>
              </a:buClr>
              <a:buSzPts val="3500"/>
              <a:buChar char="●"/>
            </a:pPr>
            <a:r>
              <a:rPr b="1" lang="en-US" sz="3500">
                <a:solidFill>
                  <a:srgbClr val="00205B"/>
                </a:solidFill>
              </a:rPr>
              <a:t>Use the Last Layer of MLP block then do a Pooling to get Sentence Embedding</a:t>
            </a:r>
            <a:endParaRPr b="1" sz="3500">
              <a:solidFill>
                <a:srgbClr val="00205B"/>
              </a:solidFill>
            </a:endParaRPr>
          </a:p>
          <a:p>
            <a:pPr indent="-45085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205B"/>
              </a:buClr>
              <a:buSzPts val="3500"/>
              <a:buChar char="●"/>
            </a:pPr>
            <a:r>
              <a:rPr b="1" lang="en-US" sz="3500">
                <a:solidFill>
                  <a:srgbClr val="00205B"/>
                </a:solidFill>
              </a:rPr>
              <a:t>Train a NN(MLP) to predict convergence stage</a:t>
            </a:r>
            <a:endParaRPr b="1" sz="3500">
              <a:solidFill>
                <a:srgbClr val="00205B"/>
              </a:solidFill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3" y="105600"/>
            <a:ext cx="6458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020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3:</a:t>
            </a:r>
            <a:r>
              <a:rPr b="1" lang="en-US" sz="6000">
                <a:solidFill>
                  <a:srgbClr val="0020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Methodology</a:t>
            </a:r>
            <a:endParaRPr b="1" sz="6000">
              <a:solidFill>
                <a:srgbClr val="00205B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60" name="Google Shape;16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50819" y="1309150"/>
            <a:ext cx="5004006" cy="750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p19"/>
          <p:cNvGrpSpPr/>
          <p:nvPr/>
        </p:nvGrpSpPr>
        <p:grpSpPr>
          <a:xfrm>
            <a:off x="0" y="9113638"/>
            <a:ext cx="18288118" cy="1173367"/>
            <a:chOff x="0" y="-38100"/>
            <a:chExt cx="4816592" cy="309033"/>
          </a:xfrm>
        </p:grpSpPr>
        <p:sp>
          <p:nvSpPr>
            <p:cNvPr id="166" name="Google Shape;166;p19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205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9"/>
            <p:cNvSpPr txBox="1"/>
            <p:nvPr/>
          </p:nvSpPr>
          <p:spPr>
            <a:xfrm>
              <a:off x="0" y="-38100"/>
              <a:ext cx="4816500" cy="30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19"/>
          <p:cNvSpPr/>
          <p:nvPr/>
        </p:nvSpPr>
        <p:spPr>
          <a:xfrm>
            <a:off x="399874" y="9473983"/>
            <a:ext cx="1462805" cy="597334"/>
          </a:xfrm>
          <a:custGeom>
            <a:rect b="b" l="l" r="r" t="t"/>
            <a:pathLst>
              <a:path extrusionOk="0" h="597334" w="1462805">
                <a:moveTo>
                  <a:pt x="0" y="0"/>
                </a:moveTo>
                <a:lnTo>
                  <a:pt x="1462806" y="0"/>
                </a:lnTo>
                <a:lnTo>
                  <a:pt x="1462806" y="597334"/>
                </a:lnTo>
                <a:lnTo>
                  <a:pt x="0" y="5973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13475819" y="9511665"/>
            <a:ext cx="447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6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518275" y="1688400"/>
            <a:ext cx="8852700" cy="6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205B"/>
                </a:solidFill>
              </a:rPr>
              <a:t>Models:</a:t>
            </a:r>
            <a:endParaRPr b="1" sz="4000">
              <a:solidFill>
                <a:srgbClr val="00205B"/>
              </a:solidFill>
            </a:endParaRPr>
          </a:p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205B"/>
                </a:solidFill>
              </a:rPr>
              <a:t>Transformer Base ⇒ BERT</a:t>
            </a:r>
            <a:endParaRPr b="1" sz="4000">
              <a:solidFill>
                <a:srgbClr val="00205B"/>
              </a:solidFill>
            </a:endParaRPr>
          </a:p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205B"/>
                </a:solidFill>
              </a:rPr>
              <a:t>Encoder-only, for classification task</a:t>
            </a:r>
            <a:endParaRPr b="1" sz="4000">
              <a:solidFill>
                <a:srgbClr val="00205B"/>
              </a:solidFill>
            </a:endParaRPr>
          </a:p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00205B"/>
              </a:solidFill>
            </a:endParaRPr>
          </a:p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00205B"/>
              </a:solidFill>
            </a:endParaRPr>
          </a:p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00205B"/>
              </a:solidFill>
            </a:endParaRPr>
          </a:p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00205B"/>
              </a:solidFill>
            </a:endParaRPr>
          </a:p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00205B"/>
              </a:solidFill>
            </a:endParaRPr>
          </a:p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205B"/>
                </a:solidFill>
              </a:rPr>
              <a:t>Dataset:</a:t>
            </a:r>
            <a:endParaRPr b="1" sz="4000">
              <a:solidFill>
                <a:srgbClr val="00205B"/>
              </a:solidFill>
            </a:endParaRPr>
          </a:p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205B"/>
                </a:solidFill>
              </a:rPr>
              <a:t>Image Classification ⇒Yahoo</a:t>
            </a:r>
            <a:endParaRPr b="1" sz="4000">
              <a:solidFill>
                <a:srgbClr val="00205B"/>
              </a:solidFill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-1" y="105600"/>
            <a:ext cx="8250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020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4</a:t>
            </a:r>
            <a:r>
              <a:rPr b="1" lang="en-US" sz="6000">
                <a:solidFill>
                  <a:srgbClr val="0020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:</a:t>
            </a:r>
            <a:r>
              <a:rPr b="1" lang="en-US" sz="6000">
                <a:solidFill>
                  <a:srgbClr val="0020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Models and Datasets</a:t>
            </a:r>
            <a:endParaRPr sz="6000"/>
          </a:p>
        </p:txBody>
      </p:sp>
      <p:pic>
        <p:nvPicPr>
          <p:cNvPr id="172" name="Google Shape;172;p19" title="Screenshot 2025-11-19 at 14.27.2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78794" y="5134577"/>
            <a:ext cx="6936229" cy="3618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01250" y="642650"/>
            <a:ext cx="5408097" cy="4029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20"/>
          <p:cNvGrpSpPr/>
          <p:nvPr/>
        </p:nvGrpSpPr>
        <p:grpSpPr>
          <a:xfrm>
            <a:off x="0" y="9113638"/>
            <a:ext cx="18288118" cy="1173367"/>
            <a:chOff x="0" y="-38100"/>
            <a:chExt cx="4816592" cy="309033"/>
          </a:xfrm>
        </p:grpSpPr>
        <p:sp>
          <p:nvSpPr>
            <p:cNvPr id="179" name="Google Shape;179;p20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205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20"/>
            <p:cNvSpPr txBox="1"/>
            <p:nvPr/>
          </p:nvSpPr>
          <p:spPr>
            <a:xfrm>
              <a:off x="0" y="-38100"/>
              <a:ext cx="4816500" cy="30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20"/>
          <p:cNvSpPr/>
          <p:nvPr/>
        </p:nvSpPr>
        <p:spPr>
          <a:xfrm>
            <a:off x="399874" y="9473983"/>
            <a:ext cx="1462805" cy="597334"/>
          </a:xfrm>
          <a:custGeom>
            <a:rect b="b" l="l" r="r" t="t"/>
            <a:pathLst>
              <a:path extrusionOk="0" h="597334" w="1462805">
                <a:moveTo>
                  <a:pt x="0" y="0"/>
                </a:moveTo>
                <a:lnTo>
                  <a:pt x="1462806" y="0"/>
                </a:lnTo>
                <a:lnTo>
                  <a:pt x="1462806" y="597334"/>
                </a:lnTo>
                <a:lnTo>
                  <a:pt x="0" y="5973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3475819" y="9511665"/>
            <a:ext cx="447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7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1262375" y="1749000"/>
            <a:ext cx="9733500" cy="77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00">
                <a:solidFill>
                  <a:srgbClr val="00205B"/>
                </a:solidFill>
              </a:rPr>
              <a:t>Setup – Google Colab, T4</a:t>
            </a:r>
            <a:endParaRPr b="1" sz="4700">
              <a:solidFill>
                <a:srgbClr val="00205B"/>
              </a:solidFill>
            </a:endParaRPr>
          </a:p>
          <a:p>
            <a:pPr indent="-482600" lvl="0" marL="4572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205B"/>
              </a:buClr>
              <a:buSzPts val="4000"/>
              <a:buChar char="●"/>
            </a:pPr>
            <a:r>
              <a:rPr b="1" lang="en-US" sz="4000">
                <a:solidFill>
                  <a:srgbClr val="00205B"/>
                </a:solidFill>
              </a:rPr>
              <a:t>Spilt </a:t>
            </a:r>
            <a:r>
              <a:rPr b="1" lang="en-US" sz="4000">
                <a:solidFill>
                  <a:srgbClr val="00205B"/>
                </a:solidFill>
              </a:rPr>
              <a:t>Yahoo </a:t>
            </a:r>
            <a:endParaRPr b="1" sz="4000">
              <a:solidFill>
                <a:srgbClr val="00205B"/>
              </a:solidFill>
            </a:endParaRPr>
          </a:p>
          <a:p>
            <a:pPr indent="-48260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205B"/>
              </a:buClr>
              <a:buSzPts val="4000"/>
              <a:buChar char="●"/>
            </a:pPr>
            <a:r>
              <a:rPr b="1" lang="en-US" sz="4000">
                <a:solidFill>
                  <a:srgbClr val="00205B"/>
                </a:solidFill>
              </a:rPr>
              <a:t>Train BERT(Mini) for 25 Epoch, </a:t>
            </a:r>
            <a:endParaRPr b="1" sz="4000">
              <a:solidFill>
                <a:srgbClr val="00205B"/>
              </a:solidFill>
            </a:endParaRPr>
          </a:p>
          <a:p>
            <a:pPr indent="-482600" lvl="1" marL="9144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205B"/>
              </a:buClr>
              <a:buSzPts val="4000"/>
              <a:buChar char="○"/>
            </a:pPr>
            <a:r>
              <a:rPr b="1" lang="en-US" sz="4000">
                <a:solidFill>
                  <a:srgbClr val="00205B"/>
                </a:solidFill>
              </a:rPr>
              <a:t>Save Checkpoints and Loss</a:t>
            </a:r>
            <a:endParaRPr b="1" sz="4000">
              <a:solidFill>
                <a:srgbClr val="00205B"/>
              </a:solidFill>
            </a:endParaRPr>
          </a:p>
          <a:p>
            <a:pPr indent="-48260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205B"/>
              </a:buClr>
              <a:buSzPts val="4000"/>
              <a:buChar char="●"/>
            </a:pPr>
            <a:r>
              <a:rPr b="1" lang="en-US" sz="4000">
                <a:solidFill>
                  <a:srgbClr val="00205B"/>
                </a:solidFill>
              </a:rPr>
              <a:t>Construct Convergence Dataset</a:t>
            </a:r>
            <a:endParaRPr b="1" sz="4000">
              <a:solidFill>
                <a:srgbClr val="00205B"/>
              </a:solidFill>
            </a:endParaRPr>
          </a:p>
          <a:p>
            <a:pPr indent="-482600" lvl="1" marL="9144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205B"/>
              </a:buClr>
              <a:buSzPts val="4000"/>
              <a:buChar char="○"/>
            </a:pPr>
            <a:r>
              <a:rPr b="1" lang="en-US" sz="4000">
                <a:solidFill>
                  <a:srgbClr val="00205B"/>
                </a:solidFill>
              </a:rPr>
              <a:t>Input: Sentence Embedding</a:t>
            </a:r>
            <a:endParaRPr b="1" sz="4000">
              <a:solidFill>
                <a:srgbClr val="00205B"/>
              </a:solidFill>
            </a:endParaRPr>
          </a:p>
          <a:p>
            <a:pPr indent="-482600" lvl="1" marL="9144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205B"/>
              </a:buClr>
              <a:buSzPts val="4000"/>
              <a:buChar char="○"/>
            </a:pPr>
            <a:r>
              <a:rPr b="1" lang="en-US" sz="4000">
                <a:solidFill>
                  <a:srgbClr val="00205B"/>
                </a:solidFill>
              </a:rPr>
              <a:t>Output: </a:t>
            </a:r>
            <a:r>
              <a:rPr b="1" lang="en-US" sz="4000">
                <a:solidFill>
                  <a:srgbClr val="00205B"/>
                </a:solidFill>
              </a:rPr>
              <a:t>Coverage</a:t>
            </a:r>
            <a:r>
              <a:rPr b="1" lang="en-US" sz="4000">
                <a:solidFill>
                  <a:srgbClr val="00205B"/>
                </a:solidFill>
              </a:rPr>
              <a:t> stage(1-5)</a:t>
            </a:r>
            <a:endParaRPr b="1" sz="4000">
              <a:solidFill>
                <a:srgbClr val="00205B"/>
              </a:solidFill>
            </a:endParaRPr>
          </a:p>
          <a:p>
            <a:pPr indent="0" lvl="0" marL="9144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00205B"/>
              </a:solidFill>
            </a:endParaRPr>
          </a:p>
          <a:p>
            <a:pPr indent="-48260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205B"/>
              </a:buClr>
              <a:buSzPts val="4000"/>
              <a:buChar char="●"/>
            </a:pPr>
            <a:r>
              <a:rPr b="1" lang="en-US" sz="4000">
                <a:solidFill>
                  <a:srgbClr val="00205B"/>
                </a:solidFill>
              </a:rPr>
              <a:t>Train MLP to Predict </a:t>
            </a:r>
            <a:r>
              <a:rPr b="1" lang="en-US" sz="4000">
                <a:solidFill>
                  <a:srgbClr val="00205B"/>
                </a:solidFill>
              </a:rPr>
              <a:t>Coverage stage</a:t>
            </a:r>
            <a:endParaRPr b="1" sz="4000">
              <a:solidFill>
                <a:srgbClr val="00205B"/>
              </a:solidFill>
            </a:endParaRPr>
          </a:p>
          <a:p>
            <a:pPr indent="-482600" lvl="1" marL="9144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205B"/>
              </a:buClr>
              <a:buSzPts val="4000"/>
              <a:buChar char="○"/>
            </a:pPr>
            <a:r>
              <a:rPr b="1" lang="en-US" sz="4000">
                <a:solidFill>
                  <a:srgbClr val="00205B"/>
                </a:solidFill>
              </a:rPr>
              <a:t>Result: </a:t>
            </a:r>
            <a:r>
              <a:rPr lang="en-US" sz="4000">
                <a:solidFill>
                  <a:srgbClr val="00205B"/>
                </a:solidFill>
              </a:rPr>
              <a:t>Test Acc : 0.8487</a:t>
            </a:r>
            <a:endParaRPr sz="4000">
              <a:solidFill>
                <a:srgbClr val="00205B"/>
              </a:solidFill>
            </a:endParaRPr>
          </a:p>
          <a:p>
            <a:pPr indent="0" lvl="0" marL="9144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205B"/>
              </a:solidFill>
            </a:endParaRPr>
          </a:p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500">
                <a:solidFill>
                  <a:srgbClr val="00205B"/>
                </a:solidFill>
              </a:rPr>
              <a:t>Colab always Disconnected</a:t>
            </a:r>
            <a:r>
              <a:rPr lang="en-US" sz="2500">
                <a:solidFill>
                  <a:srgbClr val="00205B"/>
                </a:solidFill>
              </a:rPr>
              <a:t>😭</a:t>
            </a:r>
            <a:r>
              <a:rPr i="1" lang="en-US" sz="2500">
                <a:solidFill>
                  <a:srgbClr val="00205B"/>
                </a:solidFill>
              </a:rPr>
              <a:t>, Not reach the best result yet…</a:t>
            </a:r>
            <a:endParaRPr i="1" sz="2500">
              <a:solidFill>
                <a:srgbClr val="00205B"/>
              </a:solidFill>
            </a:endParaRPr>
          </a:p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00205B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3" y="105600"/>
            <a:ext cx="6458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020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5</a:t>
            </a:r>
            <a:r>
              <a:rPr b="1" lang="en-US" sz="6000">
                <a:solidFill>
                  <a:srgbClr val="0020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:</a:t>
            </a:r>
            <a:r>
              <a:rPr b="1" lang="en-US" sz="6000">
                <a:solidFill>
                  <a:srgbClr val="0020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Experiments</a:t>
            </a:r>
            <a:endParaRPr sz="6000"/>
          </a:p>
        </p:txBody>
      </p:sp>
      <p:pic>
        <p:nvPicPr>
          <p:cNvPr id="185" name="Google Shape;185;p20" title="Screenshot 2025-11-19 at 14.32.3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07750" y="228900"/>
            <a:ext cx="60960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16000" y="1396875"/>
            <a:ext cx="5191125" cy="374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116250" y="5140200"/>
            <a:ext cx="4478999" cy="3973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21"/>
          <p:cNvGrpSpPr/>
          <p:nvPr/>
        </p:nvGrpSpPr>
        <p:grpSpPr>
          <a:xfrm>
            <a:off x="0" y="9113638"/>
            <a:ext cx="18288118" cy="1173367"/>
            <a:chOff x="0" y="-38100"/>
            <a:chExt cx="4816592" cy="309033"/>
          </a:xfrm>
        </p:grpSpPr>
        <p:sp>
          <p:nvSpPr>
            <p:cNvPr id="193" name="Google Shape;193;p21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205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21"/>
            <p:cNvSpPr txBox="1"/>
            <p:nvPr/>
          </p:nvSpPr>
          <p:spPr>
            <a:xfrm>
              <a:off x="0" y="-38100"/>
              <a:ext cx="4816500" cy="30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" name="Google Shape;195;p21"/>
          <p:cNvSpPr/>
          <p:nvPr/>
        </p:nvSpPr>
        <p:spPr>
          <a:xfrm>
            <a:off x="399874" y="9473983"/>
            <a:ext cx="1462805" cy="597334"/>
          </a:xfrm>
          <a:custGeom>
            <a:rect b="b" l="l" r="r" t="t"/>
            <a:pathLst>
              <a:path extrusionOk="0" h="597334" w="1462805">
                <a:moveTo>
                  <a:pt x="0" y="0"/>
                </a:moveTo>
                <a:lnTo>
                  <a:pt x="1462806" y="0"/>
                </a:lnTo>
                <a:lnTo>
                  <a:pt x="1462806" y="597334"/>
                </a:lnTo>
                <a:lnTo>
                  <a:pt x="0" y="5973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13475819" y="9511665"/>
            <a:ext cx="447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8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772100" y="1380050"/>
            <a:ext cx="16273200" cy="12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2600" lvl="0" marL="4572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205B"/>
              </a:buClr>
              <a:buSzPts val="4000"/>
              <a:buAutoNum type="arabicPeriod"/>
            </a:pPr>
            <a:r>
              <a:rPr b="1" lang="en-US" sz="4000">
                <a:solidFill>
                  <a:srgbClr val="00205B"/>
                </a:solidFill>
              </a:rPr>
              <a:t>Previous Work used Visualization tool in CV to exam result</a:t>
            </a:r>
            <a:endParaRPr b="1" sz="4000">
              <a:solidFill>
                <a:srgbClr val="00205B"/>
              </a:solidFill>
            </a:endParaRPr>
          </a:p>
          <a:p>
            <a:pPr indent="0" lvl="0" marL="4572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205B"/>
                </a:solidFill>
              </a:rPr>
              <a:t>Visualization for BERT like BertViz Can be added</a:t>
            </a:r>
            <a:endParaRPr b="1" sz="4000">
              <a:solidFill>
                <a:srgbClr val="00205B"/>
              </a:solidFill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-2" y="105600"/>
            <a:ext cx="10435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020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6</a:t>
            </a:r>
            <a:r>
              <a:rPr b="1" lang="en-US" sz="6000">
                <a:solidFill>
                  <a:srgbClr val="0020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: Future Work &amp; Discussion</a:t>
            </a:r>
            <a:endParaRPr sz="6000"/>
          </a:p>
        </p:txBody>
      </p:sp>
      <p:pic>
        <p:nvPicPr>
          <p:cNvPr id="199" name="Google Shape;199;p21" title="Screenshot 2025-11-19 at 14.43.0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075" y="2517975"/>
            <a:ext cx="9906867" cy="543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01942" y="3429000"/>
            <a:ext cx="7881258" cy="409825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800350" y="8310250"/>
            <a:ext cx="149529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205B"/>
                </a:solidFill>
              </a:rPr>
              <a:t>Zhang, L., Chen, C., He, L., &amp; Li, K. (2024, September). Feature map convergence evaluation for functional module. In 2024 IEEE 27th International Conference on Intelligent Transportation Systems (ITSC) (pp. 864-869). IEEE.</a:t>
            </a:r>
            <a:endParaRPr b="1" sz="2000">
              <a:solidFill>
                <a:srgbClr val="00205B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oogle Shape;206;p22"/>
          <p:cNvGrpSpPr/>
          <p:nvPr/>
        </p:nvGrpSpPr>
        <p:grpSpPr>
          <a:xfrm>
            <a:off x="0" y="9113638"/>
            <a:ext cx="18288118" cy="1173367"/>
            <a:chOff x="0" y="-38100"/>
            <a:chExt cx="4816592" cy="309033"/>
          </a:xfrm>
        </p:grpSpPr>
        <p:sp>
          <p:nvSpPr>
            <p:cNvPr id="207" name="Google Shape;207;p22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205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22"/>
            <p:cNvSpPr txBox="1"/>
            <p:nvPr/>
          </p:nvSpPr>
          <p:spPr>
            <a:xfrm>
              <a:off x="0" y="-38100"/>
              <a:ext cx="4816500" cy="30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9" name="Google Shape;209;p22"/>
          <p:cNvSpPr/>
          <p:nvPr/>
        </p:nvSpPr>
        <p:spPr>
          <a:xfrm>
            <a:off x="399874" y="9473983"/>
            <a:ext cx="1462805" cy="597334"/>
          </a:xfrm>
          <a:custGeom>
            <a:rect b="b" l="l" r="r" t="t"/>
            <a:pathLst>
              <a:path extrusionOk="0" h="597334" w="1462805">
                <a:moveTo>
                  <a:pt x="0" y="0"/>
                </a:moveTo>
                <a:lnTo>
                  <a:pt x="1462806" y="0"/>
                </a:lnTo>
                <a:lnTo>
                  <a:pt x="1462806" y="597334"/>
                </a:lnTo>
                <a:lnTo>
                  <a:pt x="0" y="5973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13475819" y="9511665"/>
            <a:ext cx="447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9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700950" y="1323150"/>
            <a:ext cx="16273200" cy="18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205B"/>
                </a:solidFill>
              </a:rPr>
              <a:t>2</a:t>
            </a:r>
            <a:r>
              <a:rPr b="1" lang="en-US" sz="4000">
                <a:solidFill>
                  <a:srgbClr val="00205B"/>
                </a:solidFill>
              </a:rPr>
              <a:t>. The Author use Framework to Evaluation some Harder Task like VLM</a:t>
            </a:r>
            <a:endParaRPr b="1" sz="4000">
              <a:solidFill>
                <a:srgbClr val="00205B"/>
              </a:solidFill>
            </a:endParaRPr>
          </a:p>
          <a:p>
            <a:pPr indent="0" lvl="0" marL="4572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00205B"/>
              </a:solidFill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-2" y="105600"/>
            <a:ext cx="10435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020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6:Future Work &amp; Discussion</a:t>
            </a:r>
            <a:endParaRPr sz="6000"/>
          </a:p>
        </p:txBody>
      </p:sp>
      <p:sp>
        <p:nvSpPr>
          <p:cNvPr id="213" name="Google Shape;213;p22"/>
          <p:cNvSpPr txBox="1"/>
          <p:nvPr/>
        </p:nvSpPr>
        <p:spPr>
          <a:xfrm>
            <a:off x="118050" y="8310250"/>
            <a:ext cx="180519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205B"/>
                </a:solidFill>
              </a:rPr>
              <a:t>Zhang, L., Ding, X., Dai, Y., He, L., &amp; Li, K. (2025, May). Unveiling the Black Box: Independent Functional Module Evaluation for Bird's-Eye-View Perception Model. In 2025 IEEE International Conference on Robotics and Automation (ICRA) (pp. 7305-7311). IEEE.</a:t>
            </a:r>
            <a:endParaRPr b="1" sz="2000">
              <a:solidFill>
                <a:srgbClr val="00205B"/>
              </a:solidFill>
            </a:endParaRPr>
          </a:p>
        </p:txBody>
      </p:sp>
      <p:pic>
        <p:nvPicPr>
          <p:cNvPr id="214" name="Google Shape;214;p22" title="Screenshot 2025-11-19 at 14.49.1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2950" y="2139800"/>
            <a:ext cx="10274424" cy="4822899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800350" y="6796900"/>
            <a:ext cx="16273200" cy="12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205B"/>
                </a:solidFill>
              </a:rPr>
              <a:t>Train or Fine-tuning a LLM is very expensive, maybe some task such LM </a:t>
            </a:r>
            <a:r>
              <a:rPr b="1" lang="en-US" sz="4000">
                <a:solidFill>
                  <a:srgbClr val="00205B"/>
                </a:solidFill>
              </a:rPr>
              <a:t>training</a:t>
            </a:r>
            <a:r>
              <a:rPr b="1" lang="en-US" sz="4000">
                <a:solidFill>
                  <a:srgbClr val="00205B"/>
                </a:solidFill>
              </a:rPr>
              <a:t> or RL Fine-tuning can be discussed</a:t>
            </a:r>
            <a:endParaRPr b="1" sz="4000">
              <a:solidFill>
                <a:srgbClr val="00205B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23"/>
          <p:cNvGrpSpPr/>
          <p:nvPr/>
        </p:nvGrpSpPr>
        <p:grpSpPr>
          <a:xfrm>
            <a:off x="0" y="9113638"/>
            <a:ext cx="18288118" cy="1173367"/>
            <a:chOff x="0" y="-38100"/>
            <a:chExt cx="4816592" cy="309033"/>
          </a:xfrm>
        </p:grpSpPr>
        <p:sp>
          <p:nvSpPr>
            <p:cNvPr id="221" name="Google Shape;221;p23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205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23"/>
            <p:cNvSpPr txBox="1"/>
            <p:nvPr/>
          </p:nvSpPr>
          <p:spPr>
            <a:xfrm>
              <a:off x="0" y="-38100"/>
              <a:ext cx="4816500" cy="30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3" name="Google Shape;223;p23"/>
          <p:cNvSpPr/>
          <p:nvPr/>
        </p:nvSpPr>
        <p:spPr>
          <a:xfrm>
            <a:off x="399874" y="9473983"/>
            <a:ext cx="1462805" cy="597334"/>
          </a:xfrm>
          <a:custGeom>
            <a:rect b="b" l="l" r="r" t="t"/>
            <a:pathLst>
              <a:path extrusionOk="0" h="597334" w="1462805">
                <a:moveTo>
                  <a:pt x="0" y="0"/>
                </a:moveTo>
                <a:lnTo>
                  <a:pt x="1462806" y="0"/>
                </a:lnTo>
                <a:lnTo>
                  <a:pt x="1462806" y="597334"/>
                </a:lnTo>
                <a:lnTo>
                  <a:pt x="0" y="5973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 txBox="1"/>
          <p:nvPr/>
        </p:nvSpPr>
        <p:spPr>
          <a:xfrm>
            <a:off x="13475819" y="9511665"/>
            <a:ext cx="447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10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700950" y="1323150"/>
            <a:ext cx="16273200" cy="12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205B"/>
                </a:solidFill>
              </a:rPr>
              <a:t>3. The Author use this loss to accelerate training in CV</a:t>
            </a:r>
            <a:endParaRPr b="1" sz="4000">
              <a:solidFill>
                <a:srgbClr val="00205B"/>
              </a:solidFill>
            </a:endParaRPr>
          </a:p>
          <a:p>
            <a:pPr indent="0" lvl="0" marL="4572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00205B"/>
              </a:solidFill>
            </a:endParaRPr>
          </a:p>
        </p:txBody>
      </p:sp>
      <p:sp>
        <p:nvSpPr>
          <p:cNvPr id="226" name="Google Shape;226;p23"/>
          <p:cNvSpPr txBox="1"/>
          <p:nvPr/>
        </p:nvSpPr>
        <p:spPr>
          <a:xfrm>
            <a:off x="-2" y="105600"/>
            <a:ext cx="10435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020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6:Future Work &amp; Discussion</a:t>
            </a:r>
            <a:endParaRPr sz="6000"/>
          </a:p>
        </p:txBody>
      </p:sp>
      <p:pic>
        <p:nvPicPr>
          <p:cNvPr id="227" name="Google Shape;227;p23" title="Screenshot 2025-11-19 at 14.46.0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0250" y="2267963"/>
            <a:ext cx="10197074" cy="60047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800350" y="8310250"/>
            <a:ext cx="149529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205B"/>
                </a:solidFill>
              </a:rPr>
              <a:t>Zhu, Z., Huang, R., &amp; He, L. (2025). FMCE-Net++: Feature Map Convergence Evaluation and Training. arXiv preprint arXiv:2508.06109.</a:t>
            </a:r>
            <a:endParaRPr b="1" sz="2000">
              <a:solidFill>
                <a:srgbClr val="00205B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24"/>
          <p:cNvGrpSpPr/>
          <p:nvPr/>
        </p:nvGrpSpPr>
        <p:grpSpPr>
          <a:xfrm>
            <a:off x="0" y="9113638"/>
            <a:ext cx="18288118" cy="1173367"/>
            <a:chOff x="0" y="-38100"/>
            <a:chExt cx="4816592" cy="309033"/>
          </a:xfrm>
        </p:grpSpPr>
        <p:sp>
          <p:nvSpPr>
            <p:cNvPr id="234" name="Google Shape;234;p24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205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24"/>
            <p:cNvSpPr txBox="1"/>
            <p:nvPr/>
          </p:nvSpPr>
          <p:spPr>
            <a:xfrm>
              <a:off x="0" y="-38100"/>
              <a:ext cx="4816500" cy="30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6" name="Google Shape;236;p24"/>
          <p:cNvSpPr/>
          <p:nvPr/>
        </p:nvSpPr>
        <p:spPr>
          <a:xfrm>
            <a:off x="399874" y="9473983"/>
            <a:ext cx="1462805" cy="597334"/>
          </a:xfrm>
          <a:custGeom>
            <a:rect b="b" l="l" r="r" t="t"/>
            <a:pathLst>
              <a:path extrusionOk="0" h="597334" w="1462805">
                <a:moveTo>
                  <a:pt x="0" y="0"/>
                </a:moveTo>
                <a:lnTo>
                  <a:pt x="1462806" y="0"/>
                </a:lnTo>
                <a:lnTo>
                  <a:pt x="1462806" y="597334"/>
                </a:lnTo>
                <a:lnTo>
                  <a:pt x="0" y="5973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4"/>
          <p:cNvSpPr txBox="1"/>
          <p:nvPr/>
        </p:nvSpPr>
        <p:spPr>
          <a:xfrm>
            <a:off x="13475819" y="9511665"/>
            <a:ext cx="447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11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504700" y="1563125"/>
            <a:ext cx="17450100" cy="52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205B"/>
              </a:buClr>
              <a:buSzPts val="2800"/>
              <a:buAutoNum type="arabicPeriod"/>
            </a:pPr>
            <a:r>
              <a:rPr b="1" lang="en-US" sz="2800">
                <a:solidFill>
                  <a:srgbClr val="00205B"/>
                </a:solidFill>
              </a:rPr>
              <a:t>Zhang, L., Chen, C., He, L., &amp; Li, K. (2024, September). Feature map convergence evaluation for functional module. In 2024 IEEE 27th International Conference on Intelligent Transportation Systems (ITSC) (pp. 864-869). IEEE.</a:t>
            </a:r>
            <a:endParaRPr b="1" sz="2800">
              <a:solidFill>
                <a:srgbClr val="00205B"/>
              </a:solidFill>
            </a:endParaRPr>
          </a:p>
          <a:p>
            <a:pPr indent="-40640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205B"/>
              </a:buClr>
              <a:buSzPts val="2800"/>
              <a:buAutoNum type="arabicPeriod"/>
            </a:pPr>
            <a:r>
              <a:rPr b="1" lang="en-US" sz="2800">
                <a:solidFill>
                  <a:srgbClr val="00205B"/>
                </a:solidFill>
              </a:rPr>
              <a:t>Zhu, Z., Huang, R., &amp; He, L. (2025). FMCE-Net++: Feature Map Convergence Evaluation and Training. arXiv preprint arXiv:2508.06109.</a:t>
            </a:r>
            <a:endParaRPr b="1" sz="2800">
              <a:solidFill>
                <a:srgbClr val="00205B"/>
              </a:solidFill>
            </a:endParaRPr>
          </a:p>
          <a:p>
            <a:pPr indent="-40640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205B"/>
              </a:buClr>
              <a:buSzPts val="2800"/>
              <a:buAutoNum type="arabicPeriod"/>
            </a:pPr>
            <a:r>
              <a:rPr b="1" lang="en-US" sz="2800">
                <a:solidFill>
                  <a:srgbClr val="00205B"/>
                </a:solidFill>
              </a:rPr>
              <a:t>Zhang, L., Ding, X., Dai, Y., He, L., &amp; Li, K. (2025, May). Unveiling the Black Box: Independent Functional Module Evaluation for Bird's-Eye-View Perception Model. In 2025 IEEE International Conference on Robotics and Automation (ICRA) (pp. 7305-7311). IEEE.</a:t>
            </a:r>
            <a:endParaRPr b="1" sz="2800">
              <a:solidFill>
                <a:srgbClr val="00205B"/>
              </a:solidFill>
            </a:endParaRPr>
          </a:p>
          <a:p>
            <a:pPr indent="-40640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205B"/>
              </a:buClr>
              <a:buSzPts val="2800"/>
              <a:buAutoNum type="arabicPeriod"/>
            </a:pPr>
            <a:r>
              <a:rPr b="1" lang="en-US" sz="2800">
                <a:solidFill>
                  <a:srgbClr val="00205B"/>
                </a:solidFill>
              </a:rPr>
              <a:t>Devlin, J., Chang, M. W., Lee, K., &amp; Toutanova, K. (2019, June). Bert: Pre-training of deep bidirectional transformers for language understanding. In Proceedings of the 2019 conference of the North American chapter of the association for computational linguistics: human language technologies, volume 1 (long and short papers) (pp. 4171-4186).</a:t>
            </a:r>
            <a:endParaRPr b="1" sz="5000">
              <a:solidFill>
                <a:srgbClr val="00205B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239" name="Google Shape;239;p24"/>
          <p:cNvSpPr txBox="1"/>
          <p:nvPr/>
        </p:nvSpPr>
        <p:spPr>
          <a:xfrm>
            <a:off x="3" y="105600"/>
            <a:ext cx="6458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020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References</a:t>
            </a:r>
            <a:endParaRPr sz="6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5B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/>
          <p:nvPr/>
        </p:nvSpPr>
        <p:spPr>
          <a:xfrm>
            <a:off x="-2203626" y="-4252648"/>
            <a:ext cx="20882061" cy="15661546"/>
          </a:xfrm>
          <a:custGeom>
            <a:rect b="b" l="l" r="r" t="t"/>
            <a:pathLst>
              <a:path extrusionOk="0" h="15661546" w="20882061">
                <a:moveTo>
                  <a:pt x="0" y="0"/>
                </a:moveTo>
                <a:lnTo>
                  <a:pt x="20882062" y="0"/>
                </a:lnTo>
                <a:lnTo>
                  <a:pt x="20882062" y="15661546"/>
                </a:lnTo>
                <a:lnTo>
                  <a:pt x="0" y="156615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19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15541676" y="8842379"/>
            <a:ext cx="2037088" cy="831842"/>
          </a:xfrm>
          <a:custGeom>
            <a:rect b="b" l="l" r="r" t="t"/>
            <a:pathLst>
              <a:path extrusionOk="0" h="831842" w="2037088">
                <a:moveTo>
                  <a:pt x="0" y="0"/>
                </a:moveTo>
                <a:lnTo>
                  <a:pt x="2037088" y="0"/>
                </a:lnTo>
                <a:lnTo>
                  <a:pt x="2037088" y="831842"/>
                </a:lnTo>
                <a:lnTo>
                  <a:pt x="0" y="8318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 txBox="1"/>
          <p:nvPr/>
        </p:nvSpPr>
        <p:spPr>
          <a:xfrm>
            <a:off x="5166978" y="4076700"/>
            <a:ext cx="7954044" cy="1445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922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THANK YOU</a:t>
            </a:r>
            <a:endParaRPr/>
          </a:p>
        </p:txBody>
      </p:sp>
      <p:sp>
        <p:nvSpPr>
          <p:cNvPr id="247" name="Google Shape;247;p25"/>
          <p:cNvSpPr txBox="1"/>
          <p:nvPr/>
        </p:nvSpPr>
        <p:spPr>
          <a:xfrm>
            <a:off x="1283479" y="8766179"/>
            <a:ext cx="57270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22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Ryan Li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